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e486b05-291b-b756-48b1-71a3007632ed}">
          <p14:sldIdLst>
            <p14:sldId id="256"/>
            <p14:sldId id="257"/>
            <p14:sldId id="258"/>
          </p14:sldIdLst>
        </p14:section>
        <p14:section name="Product" id="{272cca16-8bac-3996-1fe3-039b617c2a39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Team" id="{5291023d-ddb2-c6e1-dffb-710ed8fac894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MedTrace: a blockchain-based tracker that lets anyone check whether a medicine batch is genuine. Domain: Blockchain. Problem statement: CB-03.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from CB-03: counterfeit and expired medicines enter the supply chain, and patients and pharmacists have no simple way to check a strip.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stages: register, transfer, stock, verify.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building blocks: web interface, backend, blockchain smart contracts, QR verification. Blockchain gives tamper-proof, shared, role-controlled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 contract written in Solidity and tested with Hardhat, deployed to Ethereum Sepolia. Backend and frontend use TypeScript and JavaScript. Hosted on Vercel.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manufacturer dashboard: batch counts, recent batches with status, and QR / Delete / Transfer actions. Create Batch button at top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verification page: scan the QR with the camera or type the batch ID. The camera is only used to read the medicine QR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a scan, MedTrace shows the medicine details, the supply chain journey from manufacturer to distributor to pharmacy, and the blockchain verification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core features. Each maps back to the CB-03 objective.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each teammate by name and their contribution.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scope: mobile scanning, cold-chain data, regulator view, production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live demo link and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41148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MedTrace  |  CB-03 Anti-counterfeit drug supply-chain tracker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MedTrace  |  CB-03 Anti-counterfeit drug supply-chain tracker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chemeClr val="bg1"/>
                </a:solidFill>
              </a:rPr>
              <a:t>MED</a:t>
            </a:r>
            <a:pPr algn="l" indent="0" marL="0">
              <a:buNone/>
            </a:pPr>
            <a:r>
              <a:rPr lang="en-US" sz="5600" b="1" dirty="0">
                <a:solidFill>
                  <a:schemeClr val="accent2"/>
                </a:solidFill>
              </a:rPr>
              <a:t>TRACE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BLOCKCHAIN  |  CB-03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Blockchain-powered medicine supply chain tracker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Problem statement CB-03: Anti-counterfeit drug supply-chain tracker</a:t>
            </a:r>
            <a:endParaRPr lang="en-US" sz="1400" dirty="0"/>
          </a:p>
        </p:txBody>
      </p:sp>
      <p:sp>
        <p:nvSpPr>
          <p:cNvPr id="6" name="Screenshot frame"/>
          <p:cNvSpPr/>
          <p:nvPr/>
        </p:nvSpPr>
        <p:spPr>
          <a:xfrm>
            <a:off x="4754880" y="1417320"/>
            <a:ext cx="4023360" cy="2002536"/>
          </a:xfrm>
          <a:prstGeom prst="roundRect">
            <a:avLst>
              <a:gd name="adj" fmla="val 547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MedTrace manufacturer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508760"/>
            <a:ext cx="3840480" cy="18196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Hackathon project  |  Team of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Fake medicines slip through unchecked</a:t>
            </a:r>
            <a:endParaRPr lang="en-US" sz="3200" dirty="0"/>
          </a:p>
        </p:txBody>
      </p:sp>
      <p:sp>
        <p:nvSpPr>
          <p:cNvPr id="3" name="Problem card 1"/>
          <p:cNvSpPr/>
          <p:nvPr/>
        </p:nvSpPr>
        <p:spPr>
          <a:xfrm>
            <a:off x="457200" y="1234440"/>
            <a:ext cx="2560320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unterfeit drugs circle"/>
          <p:cNvSpPr/>
          <p:nvPr/>
        </p:nvSpPr>
        <p:spPr>
          <a:xfrm>
            <a:off x="685800" y="1417320"/>
            <a:ext cx="594360" cy="59436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5" name="Image 0" descr="Counterfeit dru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58374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Counterfeit drugs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514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Fake medicines enter the chain between manufacturer, distributor and pharmacy.</a:t>
            </a:r>
            <a:endParaRPr lang="en-US" sz="1400" dirty="0"/>
          </a:p>
        </p:txBody>
      </p:sp>
      <p:sp>
        <p:nvSpPr>
          <p:cNvPr id="8" name="Problem card 2"/>
          <p:cNvSpPr/>
          <p:nvPr/>
        </p:nvSpPr>
        <p:spPr>
          <a:xfrm>
            <a:off x="3291840" y="1234440"/>
            <a:ext cx="2560320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pired &amp; recalled circle"/>
          <p:cNvSpPr/>
          <p:nvPr/>
        </p:nvSpPr>
        <p:spPr>
          <a:xfrm>
            <a:off x="3520440" y="1417320"/>
            <a:ext cx="594360" cy="59436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10" name="Image 1" descr="Expired &amp; recall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861" y="158374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Expired &amp; recalled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514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Expired or recalled medicines can stay on shelves unnoticed.</a:t>
            </a:r>
            <a:endParaRPr lang="en-US" sz="1400" dirty="0"/>
          </a:p>
        </p:txBody>
      </p:sp>
      <p:sp>
        <p:nvSpPr>
          <p:cNvPr id="13" name="Problem card 3"/>
          <p:cNvSpPr/>
          <p:nvPr/>
        </p:nvSpPr>
        <p:spPr>
          <a:xfrm>
            <a:off x="6126480" y="1234440"/>
            <a:ext cx="2560320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o way to verify circle"/>
          <p:cNvSpPr/>
          <p:nvPr/>
        </p:nvSpPr>
        <p:spPr>
          <a:xfrm>
            <a:off x="6355080" y="1417320"/>
            <a:ext cx="594360" cy="59436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15" name="Image 2" descr="No way to verif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01" y="158374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508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way to verify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514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Patients and pharmacists cannot easily check if a strip is genuine.</a:t>
            </a:r>
            <a:endParaRPr lang="en-US" sz="1400" dirty="0"/>
          </a:p>
        </p:txBody>
      </p:sp>
      <p:sp>
        <p:nvSpPr>
          <p:cNvPr id="18" name="Takeaway banner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Our goal: make every batch traceable and every pack verifiable by anyone.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traceable journey for every batch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457200" y="1234440"/>
            <a:ext cx="1828800" cy="24231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01  Register circle"/>
          <p:cNvSpPr/>
          <p:nvPr/>
        </p:nvSpPr>
        <p:spPr>
          <a:xfrm>
            <a:off x="640080" y="1417320"/>
            <a:ext cx="594360" cy="59436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5" name="Image 0" descr="01  Regi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58374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488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01  Register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146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Manufacturer logs the batch and its expiry on the blockchain.</a:t>
            </a:r>
            <a:endParaRPr lang="en-US" sz="1400" dirty="0"/>
          </a:p>
        </p:txBody>
      </p:sp>
      <p:pic>
        <p:nvPicPr>
          <p:cNvPr id="8" name="Image 1" descr="next ste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296" y="2331720"/>
            <a:ext cx="146304" cy="146304"/>
          </a:xfrm>
          <a:prstGeom prst="rect">
            <a:avLst/>
          </a:prstGeom>
        </p:spPr>
      </p:pic>
      <p:sp>
        <p:nvSpPr>
          <p:cNvPr id="9" name="Step card 2"/>
          <p:cNvSpPr/>
          <p:nvPr/>
        </p:nvSpPr>
        <p:spPr>
          <a:xfrm>
            <a:off x="2590495" y="1234440"/>
            <a:ext cx="1828800" cy="24231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02  Transfer circle"/>
          <p:cNvSpPr/>
          <p:nvPr/>
        </p:nvSpPr>
        <p:spPr>
          <a:xfrm>
            <a:off x="2773375" y="1417320"/>
            <a:ext cx="594360" cy="59436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11" name="Image 2" descr="02  Transf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796" y="1583741"/>
            <a:ext cx="261518" cy="26151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773375" y="21488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02  Transfer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2773375" y="25146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Each hand-off to a distributor or pharmacy is recorded.</a:t>
            </a:r>
            <a:endParaRPr lang="en-US" sz="1400" dirty="0"/>
          </a:p>
        </p:txBody>
      </p:sp>
      <p:pic>
        <p:nvPicPr>
          <p:cNvPr id="14" name="Image 3" descr="next ste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591" y="2331720"/>
            <a:ext cx="146304" cy="146304"/>
          </a:xfrm>
          <a:prstGeom prst="rect">
            <a:avLst/>
          </a:prstGeom>
        </p:spPr>
      </p:pic>
      <p:sp>
        <p:nvSpPr>
          <p:cNvPr id="15" name="Step card 3"/>
          <p:cNvSpPr/>
          <p:nvPr/>
        </p:nvSpPr>
        <p:spPr>
          <a:xfrm>
            <a:off x="4723790" y="1234440"/>
            <a:ext cx="1828800" cy="24231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03  Stock circle"/>
          <p:cNvSpPr/>
          <p:nvPr/>
        </p:nvSpPr>
        <p:spPr>
          <a:xfrm>
            <a:off x="4906670" y="1417320"/>
            <a:ext cx="594360" cy="59436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17" name="Image 4" descr="03  St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3091" y="1583741"/>
            <a:ext cx="261518" cy="26151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906670" y="21488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03  Stock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4906670" y="25146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Pharmacy receives the batch with its full history attached.</a:t>
            </a:r>
            <a:endParaRPr lang="en-US" sz="1400" dirty="0"/>
          </a:p>
        </p:txBody>
      </p:sp>
      <p:pic>
        <p:nvPicPr>
          <p:cNvPr id="20" name="Image 5" descr="next ste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4886" y="2331720"/>
            <a:ext cx="146304" cy="146304"/>
          </a:xfrm>
          <a:prstGeom prst="rect">
            <a:avLst/>
          </a:prstGeom>
        </p:spPr>
      </p:pic>
      <p:sp>
        <p:nvSpPr>
          <p:cNvPr id="21" name="Step card 4"/>
          <p:cNvSpPr/>
          <p:nvPr/>
        </p:nvSpPr>
        <p:spPr>
          <a:xfrm>
            <a:off x="6857086" y="1234440"/>
            <a:ext cx="1828800" cy="24231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04  Verify circle"/>
          <p:cNvSpPr/>
          <p:nvPr/>
        </p:nvSpPr>
        <p:spPr>
          <a:xfrm>
            <a:off x="7039966" y="1417320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3" name="Image 6" descr="04  Verif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6386" y="1583741"/>
            <a:ext cx="261518" cy="26151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039966" y="21488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04  Verify</a:t>
            </a:r>
            <a:endParaRPr lang="en-US" sz="1600" dirty="0"/>
          </a:p>
        </p:txBody>
      </p:sp>
      <p:sp>
        <p:nvSpPr>
          <p:cNvPr id="25" name="Text 16"/>
          <p:cNvSpPr txBox="1"/>
          <p:nvPr/>
        </p:nvSpPr>
        <p:spPr>
          <a:xfrm>
            <a:off x="7039966" y="25146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Anyone scans the pack's QR to see if it is genuine.</a:t>
            </a:r>
            <a:endParaRPr lang="en-US" sz="1400" dirty="0"/>
          </a:p>
        </p:txBody>
      </p:sp>
      <p:sp>
        <p:nvSpPr>
          <p:cNvPr id="26" name="Takeaway banner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18"/>
          <p:cNvSpPr txBox="1"/>
          <p:nvPr/>
        </p:nvSpPr>
        <p:spPr>
          <a:xfrm>
            <a:off x="685800" y="38862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Every hand-off is recorded, so a batch's full journey can be traced and verified.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MedTrace works</a:t>
            </a:r>
            <a:endParaRPr lang="en-US" sz="3200" dirty="0"/>
          </a:p>
        </p:txBody>
      </p:sp>
      <p:sp>
        <p:nvSpPr>
          <p:cNvPr id="3" name="Layer Web interface"/>
          <p:cNvSpPr/>
          <p:nvPr/>
        </p:nvSpPr>
        <p:spPr>
          <a:xfrm>
            <a:off x="457200" y="11887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Web interface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TypeScript &amp; JavaScript dashboards</a:t>
            </a:r>
            <a:endParaRPr lang="en-US" sz="1600" dirty="0"/>
          </a:p>
        </p:txBody>
      </p:sp>
      <p:sp>
        <p:nvSpPr>
          <p:cNvPr id="5" name="Layer Backend"/>
          <p:cNvSpPr/>
          <p:nvPr/>
        </p:nvSpPr>
        <p:spPr>
          <a:xfrm>
            <a:off x="457200" y="2039112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163A75"/>
          </a:solidFill>
          <a:ln w="12700">
            <a:solidFill>
              <a:srgbClr val="163A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03911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Backend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REST API and blockchain integration</a:t>
            </a:r>
            <a:endParaRPr lang="en-US" sz="1600" dirty="0"/>
          </a:p>
        </p:txBody>
      </p:sp>
      <p:sp>
        <p:nvSpPr>
          <p:cNvPr id="7" name="Layer Blockchain"/>
          <p:cNvSpPr/>
          <p:nvPr/>
        </p:nvSpPr>
        <p:spPr>
          <a:xfrm>
            <a:off x="457200" y="2889504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88950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Blockchain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Solidity contract on Ethereum Sepolia</a:t>
            </a:r>
            <a:endParaRPr lang="en-US" sz="1600" dirty="0"/>
          </a:p>
        </p:txBody>
      </p:sp>
      <p:sp>
        <p:nvSpPr>
          <p:cNvPr id="9" name="Layer QR verification"/>
          <p:cNvSpPr/>
          <p:nvPr/>
        </p:nvSpPr>
        <p:spPr>
          <a:xfrm>
            <a:off x="457200" y="3739896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739896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QR verification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Scan and check any batch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Why blockchain?</a:t>
            </a:r>
            <a:endParaRPr lang="en-US" sz="2200" dirty="0"/>
          </a:p>
        </p:txBody>
      </p:sp>
      <p:sp>
        <p:nvSpPr>
          <p:cNvPr id="12" name="Tamper-proof records circle"/>
          <p:cNvSpPr/>
          <p:nvPr/>
        </p:nvSpPr>
        <p:spPr>
          <a:xfrm>
            <a:off x="4937760" y="1737360"/>
            <a:ext cx="548640" cy="54864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13" name="Image 0" descr="Tamper-proof reco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1379" y="1890979"/>
            <a:ext cx="241402" cy="24140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669280" y="1645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Tamper-proof records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Once a hand-off is on-chain, it cannot be quietly edited.</a:t>
            </a:r>
            <a:endParaRPr lang="en-US" sz="1600" dirty="0"/>
          </a:p>
        </p:txBody>
      </p:sp>
      <p:sp>
        <p:nvSpPr>
          <p:cNvPr id="15" name="Shared transparency circle"/>
          <p:cNvSpPr/>
          <p:nvPr/>
        </p:nvSpPr>
        <p:spPr>
          <a:xfrm>
            <a:off x="4937760" y="2651760"/>
            <a:ext cx="548640" cy="54864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16" name="Image 1" descr="Shared transparenc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379" y="2805379"/>
            <a:ext cx="241402" cy="24140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669280" y="2560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Shared transparency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Manufacturer, distributor and pharmacy see one truth.</a:t>
            </a:r>
            <a:endParaRPr lang="en-US" sz="1600" dirty="0"/>
          </a:p>
        </p:txBody>
      </p:sp>
      <p:sp>
        <p:nvSpPr>
          <p:cNvPr id="18" name="Role-based trust circle"/>
          <p:cNvSpPr/>
          <p:nvPr/>
        </p:nvSpPr>
        <p:spPr>
          <a:xfrm>
            <a:off x="4937760" y="3566160"/>
            <a:ext cx="548640" cy="54864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19" name="Image 2" descr="Role-based tru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379" y="3719779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669280" y="3474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Role-based trust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Only the right role can create or transfer a batch.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Tech stack</a:t>
            </a:r>
            <a:endParaRPr lang="en-US" sz="3200" dirty="0"/>
          </a:p>
        </p:txBody>
      </p:sp>
      <p:sp>
        <p:nvSpPr>
          <p:cNvPr id="3" name="Tech card 1"/>
          <p:cNvSpPr/>
          <p:nvPr/>
        </p:nvSpPr>
        <p:spPr>
          <a:xfrm>
            <a:off x="457200" y="1188720"/>
            <a:ext cx="1874520" cy="320040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lockchain circle"/>
          <p:cNvSpPr/>
          <p:nvPr/>
        </p:nvSpPr>
        <p:spPr>
          <a:xfrm>
            <a:off x="685800" y="1371600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5" name="Image 0" descr="Blockcha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563624"/>
            <a:ext cx="301752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Blockchain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697480"/>
            <a:ext cx="1508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Solidity smart contract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Hardhat tests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Ethereum Sepolia</a:t>
            </a:r>
            <a:endParaRPr lang="en-US" sz="1400" dirty="0"/>
          </a:p>
        </p:txBody>
      </p:sp>
      <p:sp>
        <p:nvSpPr>
          <p:cNvPr id="8" name="Tech card 2"/>
          <p:cNvSpPr/>
          <p:nvPr/>
        </p:nvSpPr>
        <p:spPr>
          <a:xfrm>
            <a:off x="2587752" y="1188720"/>
            <a:ext cx="1874520" cy="320040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ckend circle"/>
          <p:cNvSpPr/>
          <p:nvPr/>
        </p:nvSpPr>
        <p:spPr>
          <a:xfrm>
            <a:off x="2816352" y="1371600"/>
            <a:ext cx="685800" cy="68580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10" name="Image 1" descr="Backe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376" y="156362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16352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Backend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816352" y="2697480"/>
            <a:ext cx="1508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Node.js REST API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TypeScript &amp; JavaScript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Blockchain integration</a:t>
            </a:r>
            <a:endParaRPr lang="en-US" sz="1400" dirty="0"/>
          </a:p>
        </p:txBody>
      </p:sp>
      <p:sp>
        <p:nvSpPr>
          <p:cNvPr id="13" name="Tech card 3"/>
          <p:cNvSpPr/>
          <p:nvPr/>
        </p:nvSpPr>
        <p:spPr>
          <a:xfrm>
            <a:off x="4718304" y="1188720"/>
            <a:ext cx="1874520" cy="320040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Frontend circle"/>
          <p:cNvSpPr/>
          <p:nvPr/>
        </p:nvSpPr>
        <p:spPr>
          <a:xfrm>
            <a:off x="4946904" y="1371600"/>
            <a:ext cx="685800" cy="68580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15" name="Image 2" descr="Fronte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1563624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46904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Frontend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4946904" y="2697480"/>
            <a:ext cx="1508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TypeScript &amp; JavaScript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Role-based dashboards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QR scan and verify</a:t>
            </a:r>
            <a:endParaRPr lang="en-US" sz="1400" dirty="0"/>
          </a:p>
        </p:txBody>
      </p:sp>
      <p:sp>
        <p:nvSpPr>
          <p:cNvPr id="18" name="Tech card 4"/>
          <p:cNvSpPr/>
          <p:nvPr/>
        </p:nvSpPr>
        <p:spPr>
          <a:xfrm>
            <a:off x="6848856" y="1188720"/>
            <a:ext cx="1874520" cy="320040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Delivery circle"/>
          <p:cNvSpPr/>
          <p:nvPr/>
        </p:nvSpPr>
        <p:spPr>
          <a:xfrm>
            <a:off x="7077456" y="1371600"/>
            <a:ext cx="685800" cy="68580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20" name="Image 3" descr="Deliver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563624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77456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Delivery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077456" y="2697480"/>
            <a:ext cx="1508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Deployed on Vercel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GitHub version control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Live public demo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Manufacturer dashboard</a:t>
            </a:r>
            <a:endParaRPr lang="en-US" sz="3200" dirty="0"/>
          </a:p>
        </p:txBody>
      </p:sp>
      <p:sp>
        <p:nvSpPr>
          <p:cNvPr id="3" name="Screenshot frame"/>
          <p:cNvSpPr/>
          <p:nvPr/>
        </p:nvSpPr>
        <p:spPr>
          <a:xfrm>
            <a:off x="457200" y="1188720"/>
            <a:ext cx="5577840" cy="2734056"/>
          </a:xfrm>
          <a:prstGeom prst="roundRect">
            <a:avLst>
              <a:gd name="adj" fmla="val 3344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MedTrace manufacturer dashboard showing batches, status and ac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61872"/>
            <a:ext cx="5431536" cy="2578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0416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Live demo: manufacturer view with three sample batches</a:t>
            </a:r>
            <a:endParaRPr lang="en-US" sz="1200" dirty="0"/>
          </a:p>
        </p:txBody>
      </p:sp>
      <p:sp>
        <p:nvSpPr>
          <p:cNvPr id="6" name="Callout 1"/>
          <p:cNvSpPr/>
          <p:nvPr/>
        </p:nvSpPr>
        <p:spPr>
          <a:xfrm>
            <a:off x="6309360" y="1188720"/>
            <a:ext cx="23774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46520" y="11887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Batch overview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Total, active and expired batches at a glance.</a:t>
            </a:r>
            <a:endParaRPr lang="en-US" sz="1600" dirty="0"/>
          </a:p>
        </p:txBody>
      </p:sp>
      <p:sp>
        <p:nvSpPr>
          <p:cNvPr id="8" name="Callout 2"/>
          <p:cNvSpPr/>
          <p:nvPr/>
        </p:nvSpPr>
        <p:spPr>
          <a:xfrm>
            <a:off x="6309360" y="2212848"/>
            <a:ext cx="23774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46520" y="221284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One-click actions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Create a QR, transfer or delete from each row.</a:t>
            </a:r>
            <a:endParaRPr lang="en-US" sz="1600" dirty="0"/>
          </a:p>
        </p:txBody>
      </p:sp>
      <p:sp>
        <p:nvSpPr>
          <p:cNvPr id="10" name="Callout 3"/>
          <p:cNvSpPr/>
          <p:nvPr/>
        </p:nvSpPr>
        <p:spPr>
          <a:xfrm>
            <a:off x="6309360" y="3236976"/>
            <a:ext cx="23774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3236976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Clear status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Active and expired batches are flagged instantly.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Scan. Verify. Trust.</a:t>
            </a:r>
            <a:endParaRPr lang="en-US" sz="3200" dirty="0"/>
          </a:p>
        </p:txBody>
      </p:sp>
      <p:sp>
        <p:nvSpPr>
          <p:cNvPr id="3" name="Screenshot frame"/>
          <p:cNvSpPr/>
          <p:nvPr/>
        </p:nvSpPr>
        <p:spPr>
          <a:xfrm>
            <a:off x="548640" y="1188720"/>
            <a:ext cx="3291840" cy="3264408"/>
          </a:xfrm>
          <a:prstGeom prst="roundRect">
            <a:avLst>
              <a:gd name="adj" fmla="val 336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MedTrace QR scanner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3108960" cy="3081528"/>
          </a:xfrm>
          <a:prstGeom prst="rect">
            <a:avLst/>
          </a:prstGeom>
        </p:spPr>
      </p:pic>
      <p:sp>
        <p:nvSpPr>
          <p:cNvPr id="5" name="Scan the pack's QR circle"/>
          <p:cNvSpPr/>
          <p:nvPr/>
        </p:nvSpPr>
        <p:spPr>
          <a:xfrm>
            <a:off x="4297680" y="1234440"/>
            <a:ext cx="594360" cy="594360"/>
          </a:xfrm>
          <a:prstGeom prst="ellipse">
            <a:avLst/>
          </a:prstGeom>
          <a:solidFill>
            <a:srgbClr val="163A75"/>
          </a:solidFill>
          <a:ln w="12700">
            <a:solidFill>
              <a:srgbClr val="163A75"/>
            </a:solidFill>
            <a:prstDash val="solid"/>
          </a:ln>
        </p:spPr>
      </p:sp>
      <p:pic>
        <p:nvPicPr>
          <p:cNvPr id="6" name="Image 1" descr="Scan the pack's Q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101" y="1400861"/>
            <a:ext cx="261518" cy="26151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74920" y="11430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Scan the pack's QR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Point the camera at the code inside the scanning frame.</a:t>
            </a:r>
            <a:endParaRPr lang="en-US" sz="1800" dirty="0"/>
          </a:p>
        </p:txBody>
      </p:sp>
      <p:sp>
        <p:nvSpPr>
          <p:cNvPr id="8" name="Or enter the batch ID circle"/>
          <p:cNvSpPr/>
          <p:nvPr/>
        </p:nvSpPr>
        <p:spPr>
          <a:xfrm>
            <a:off x="4297680" y="2331720"/>
            <a:ext cx="594360" cy="594360"/>
          </a:xfrm>
          <a:prstGeom prst="ellipse">
            <a:avLst/>
          </a:prstGeom>
          <a:solidFill>
            <a:srgbClr val="163A75"/>
          </a:solidFill>
          <a:ln w="12700">
            <a:solidFill>
              <a:srgbClr val="163A75"/>
            </a:solidFill>
            <a:prstDash val="solid"/>
          </a:ln>
        </p:spPr>
      </p:sp>
      <p:pic>
        <p:nvPicPr>
          <p:cNvPr id="9" name="Image 2" descr="Or enter the batch I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101" y="2498141"/>
            <a:ext cx="261518" cy="26151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074920" y="22402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Or enter the batch ID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manual check when a code is damaged or unreadable.</a:t>
            </a:r>
            <a:endParaRPr lang="en-US" sz="1800" dirty="0"/>
          </a:p>
        </p:txBody>
      </p:sp>
      <p:sp>
        <p:nvSpPr>
          <p:cNvPr id="11" name="See the full journey circle"/>
          <p:cNvSpPr/>
          <p:nvPr/>
        </p:nvSpPr>
        <p:spPr>
          <a:xfrm>
            <a:off x="4297680" y="3429000"/>
            <a:ext cx="594360" cy="594360"/>
          </a:xfrm>
          <a:prstGeom prst="ellipse">
            <a:avLst/>
          </a:prstGeom>
          <a:solidFill>
            <a:srgbClr val="163A75"/>
          </a:solidFill>
          <a:ln w="12700">
            <a:solidFill>
              <a:srgbClr val="163A75"/>
            </a:solidFill>
            <a:prstDash val="solid"/>
          </a:ln>
        </p:spPr>
      </p:sp>
      <p:pic>
        <p:nvPicPr>
          <p:cNvPr id="12" name="Image 3" descr="See the full journe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101" y="3595421"/>
            <a:ext cx="261518" cy="26151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074920" y="33375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See the full journey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Know if a batch is genuine and where it has been.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Verification result: the full journey</a:t>
            </a:r>
            <a:endParaRPr lang="en-US" sz="3200" dirty="0"/>
          </a:p>
        </p:txBody>
      </p:sp>
      <p:sp>
        <p:nvSpPr>
          <p:cNvPr id="3" name="Screenshot frame"/>
          <p:cNvSpPr/>
          <p:nvPr/>
        </p:nvSpPr>
        <p:spPr>
          <a:xfrm>
            <a:off x="457200" y="1188720"/>
            <a:ext cx="4535424" cy="3310128"/>
          </a:xfrm>
          <a:prstGeom prst="roundRect">
            <a:avLst>
              <a:gd name="adj" fmla="val 2762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MedTrace verification result showing medicine details and supply chain journ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61872"/>
            <a:ext cx="4389120" cy="31638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39496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Four possible verdicts</a:t>
            </a:r>
            <a:endParaRPr lang="en-US" sz="2000" dirty="0"/>
          </a:p>
        </p:txBody>
      </p:sp>
      <p:sp>
        <p:nvSpPr>
          <p:cNvPr id="6" name="Authentic circle"/>
          <p:cNvSpPr/>
          <p:nvPr/>
        </p:nvSpPr>
        <p:spPr>
          <a:xfrm>
            <a:off x="5394960" y="173736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" name="Image 1" descr="Authenti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8579" y="1890979"/>
            <a:ext cx="241402" cy="2414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126480" y="1691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Authentic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Registered and in date</a:t>
            </a:r>
            <a:endParaRPr lang="en-US" sz="1600" dirty="0"/>
          </a:p>
        </p:txBody>
      </p:sp>
      <p:sp>
        <p:nvSpPr>
          <p:cNvPr id="9" name="Expired circle"/>
          <p:cNvSpPr/>
          <p:nvPr/>
        </p:nvSpPr>
        <p:spPr>
          <a:xfrm>
            <a:off x="5394960" y="246888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0" name="Image 2" descr="Expir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579" y="2622499"/>
            <a:ext cx="241402" cy="24140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126480" y="2423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Expired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Past its expiry date</a:t>
            </a:r>
            <a:endParaRPr lang="en-US" sz="1600" dirty="0"/>
          </a:p>
        </p:txBody>
      </p:sp>
      <p:sp>
        <p:nvSpPr>
          <p:cNvPr id="12" name="Recalled circle"/>
          <p:cNvSpPr/>
          <p:nvPr/>
        </p:nvSpPr>
        <p:spPr>
          <a:xfrm>
            <a:off x="5394960" y="3200400"/>
            <a:ext cx="548640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3" name="Image 3" descr="Recalle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8579" y="3354019"/>
            <a:ext cx="241402" cy="2414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126480" y="3154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Recalled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Flagged as recalled</a:t>
            </a:r>
            <a:endParaRPr lang="en-US" sz="1600" dirty="0"/>
          </a:p>
        </p:txBody>
      </p:sp>
      <p:sp>
        <p:nvSpPr>
          <p:cNvPr id="15" name="Unregistered circle"/>
          <p:cNvSpPr/>
          <p:nvPr/>
        </p:nvSpPr>
        <p:spPr>
          <a:xfrm>
            <a:off x="5394960" y="3931920"/>
            <a:ext cx="548640" cy="548640"/>
          </a:xfrm>
          <a:prstGeom prst="ellipse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pic>
        <p:nvPicPr>
          <p:cNvPr id="16" name="Image 4" descr="Unregistere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8579" y="4085539"/>
            <a:ext cx="241402" cy="24140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126480" y="3886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Unregistered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No record on the blockchain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Key features</a:t>
            </a:r>
            <a:endParaRPr lang="en-US" sz="3200" dirty="0"/>
          </a:p>
        </p:txBody>
      </p:sp>
      <p:sp>
        <p:nvSpPr>
          <p:cNvPr id="3" name="Feature card 1"/>
          <p:cNvSpPr/>
          <p:nvPr/>
        </p:nvSpPr>
        <p:spPr>
          <a:xfrm>
            <a:off x="457200" y="118872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tch registration circle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5" name="Image 0" descr="Batch regi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1512418"/>
            <a:ext cx="221285" cy="22128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Batch registration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659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Medicine, quantity and expiry logged per batch.</a:t>
            </a:r>
            <a:endParaRPr lang="en-US" sz="1400" dirty="0"/>
          </a:p>
        </p:txBody>
      </p:sp>
      <p:sp>
        <p:nvSpPr>
          <p:cNvPr id="8" name="Feature card 2"/>
          <p:cNvSpPr/>
          <p:nvPr/>
        </p:nvSpPr>
        <p:spPr>
          <a:xfrm>
            <a:off x="3291840" y="118872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mart contracts circle"/>
          <p:cNvSpPr/>
          <p:nvPr/>
        </p:nvSpPr>
        <p:spPr>
          <a:xfrm>
            <a:off x="3474720" y="137160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1" descr="Smart contrac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538" y="1512418"/>
            <a:ext cx="221285" cy="22128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Smart contracts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19659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Transfers follow rules enforced on-chain.</a:t>
            </a:r>
            <a:endParaRPr lang="en-US" sz="1400" dirty="0"/>
          </a:p>
        </p:txBody>
      </p:sp>
      <p:sp>
        <p:nvSpPr>
          <p:cNvPr id="13" name="Feature card 3"/>
          <p:cNvSpPr/>
          <p:nvPr/>
        </p:nvSpPr>
        <p:spPr>
          <a:xfrm>
            <a:off x="6126480" y="118872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ole-based access circle"/>
          <p:cNvSpPr/>
          <p:nvPr/>
        </p:nvSpPr>
        <p:spPr>
          <a:xfrm>
            <a:off x="6309360" y="1371600"/>
            <a:ext cx="502920" cy="50292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15" name="Image 2" descr="Role-based acce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178" y="1512418"/>
            <a:ext cx="221285" cy="22128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4944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Role-based access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19659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Manufacturer, distributor and pharmacy roles.</a:t>
            </a:r>
            <a:endParaRPr lang="en-US" sz="1400" dirty="0"/>
          </a:p>
        </p:txBody>
      </p:sp>
      <p:sp>
        <p:nvSpPr>
          <p:cNvPr id="18" name="Feature card 4"/>
          <p:cNvSpPr/>
          <p:nvPr/>
        </p:nvSpPr>
        <p:spPr>
          <a:xfrm>
            <a:off x="457200" y="283464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QR for every batch circle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0" name="Image 3" descr="QR for every bat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8" y="3158338"/>
            <a:ext cx="221285" cy="22128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QR for every batch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611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Generate and scan codes in seconds.</a:t>
            </a:r>
            <a:endParaRPr lang="en-US" sz="1400" dirty="0"/>
          </a:p>
        </p:txBody>
      </p:sp>
      <p:sp>
        <p:nvSpPr>
          <p:cNvPr id="23" name="Feature card 5"/>
          <p:cNvSpPr/>
          <p:nvPr/>
        </p:nvSpPr>
        <p:spPr>
          <a:xfrm>
            <a:off x="3291840" y="283464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Expiry &amp; recalls circle"/>
          <p:cNvSpPr/>
          <p:nvPr/>
        </p:nvSpPr>
        <p:spPr>
          <a:xfrm>
            <a:off x="3474720" y="3017520"/>
            <a:ext cx="502920" cy="50292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25" name="Image 4" descr="Expiry &amp; recall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5538" y="3158338"/>
            <a:ext cx="221285" cy="22128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1480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Expiry &amp; recalls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611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Expired or recalled batches are flagged.</a:t>
            </a:r>
            <a:endParaRPr lang="en-US" sz="1400" dirty="0"/>
          </a:p>
        </p:txBody>
      </p:sp>
      <p:sp>
        <p:nvSpPr>
          <p:cNvPr id="28" name="Feature card 6"/>
          <p:cNvSpPr/>
          <p:nvPr/>
        </p:nvSpPr>
        <p:spPr>
          <a:xfrm>
            <a:off x="6126480" y="283464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Clear verdicts circle"/>
          <p:cNvSpPr/>
          <p:nvPr/>
        </p:nvSpPr>
        <p:spPr>
          <a:xfrm>
            <a:off x="6309360" y="301752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0" name="Image 5" descr="Clear verdict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0178" y="3158338"/>
            <a:ext cx="221285" cy="22128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4944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Clear verdicts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309360" y="3611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Authentic, expired, recalled or unregistered.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Our team of four</a:t>
            </a:r>
            <a:endParaRPr lang="en-US" sz="3200" dirty="0"/>
          </a:p>
        </p:txBody>
      </p:sp>
      <p:sp>
        <p:nvSpPr>
          <p:cNvPr id="3" name="Team card 1"/>
          <p:cNvSpPr/>
          <p:nvPr/>
        </p:nvSpPr>
        <p:spPr>
          <a:xfrm>
            <a:off x="457200" y="1188720"/>
            <a:ext cx="1874520" cy="320040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ckend circle"/>
          <p:cNvSpPr/>
          <p:nvPr/>
        </p:nvSpPr>
        <p:spPr>
          <a:xfrm>
            <a:off x="685800" y="1371600"/>
            <a:ext cx="685800" cy="68580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5" name="Image 0" descr="Backe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563624"/>
            <a:ext cx="301752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MEMBER 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4688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Backend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2918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APIs and data logic behind batches and transfers.</a:t>
            </a:r>
            <a:endParaRPr lang="en-US" sz="1400" dirty="0"/>
          </a:p>
        </p:txBody>
      </p:sp>
      <p:sp>
        <p:nvSpPr>
          <p:cNvPr id="9" name="Team card 2"/>
          <p:cNvSpPr/>
          <p:nvPr/>
        </p:nvSpPr>
        <p:spPr>
          <a:xfrm>
            <a:off x="2587752" y="1188720"/>
            <a:ext cx="1874520" cy="320040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lockchain &amp; Integration circle"/>
          <p:cNvSpPr/>
          <p:nvPr/>
        </p:nvSpPr>
        <p:spPr>
          <a:xfrm>
            <a:off x="2816352" y="1371600"/>
            <a:ext cx="685800" cy="68580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11" name="Image 1" descr="Blockchain &amp; Integr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376" y="156362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16352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MEMBER 2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816352" y="24688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Blockchain &amp; Integration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816352" y="32918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Smart contracts, wired into the app.</a:t>
            </a:r>
            <a:endParaRPr lang="en-US" sz="1400" dirty="0"/>
          </a:p>
        </p:txBody>
      </p:sp>
      <p:sp>
        <p:nvSpPr>
          <p:cNvPr id="15" name="Team card 3"/>
          <p:cNvSpPr/>
          <p:nvPr/>
        </p:nvSpPr>
        <p:spPr>
          <a:xfrm>
            <a:off x="4718304" y="1188720"/>
            <a:ext cx="1874520" cy="320040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Frontend circle"/>
          <p:cNvSpPr/>
          <p:nvPr/>
        </p:nvSpPr>
        <p:spPr>
          <a:xfrm>
            <a:off x="4946904" y="1371600"/>
            <a:ext cx="685800" cy="68580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17" name="Image 2" descr="Fronte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156362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946904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MEMBER 3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946904" y="24688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Frontend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4946904" y="32918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Dashboards and pages for every role.</a:t>
            </a:r>
            <a:endParaRPr lang="en-US" sz="1400" dirty="0"/>
          </a:p>
        </p:txBody>
      </p:sp>
      <p:sp>
        <p:nvSpPr>
          <p:cNvPr id="21" name="Team card 4"/>
          <p:cNvSpPr/>
          <p:nvPr/>
        </p:nvSpPr>
        <p:spPr>
          <a:xfrm>
            <a:off x="6848856" y="1188720"/>
            <a:ext cx="1874520" cy="320040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QR Verification &amp; UI/UX circle"/>
          <p:cNvSpPr/>
          <p:nvPr/>
        </p:nvSpPr>
        <p:spPr>
          <a:xfrm>
            <a:off x="7077456" y="1371600"/>
            <a:ext cx="685800" cy="68580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23" name="Image 3" descr="QR Verification &amp; UI/UX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563624"/>
            <a:ext cx="301752" cy="30175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077456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MEMBER 4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7077456" y="24688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QR Verification &amp; UI/UX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7077456" y="32918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The QR scan flow and the look and feel.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MedTrace goes next</a:t>
            </a:r>
            <a:endParaRPr lang="en-US" sz="3200" dirty="0"/>
          </a:p>
        </p:txBody>
      </p:sp>
      <p:sp>
        <p:nvSpPr>
          <p:cNvPr id="3" name="Roadmap card 1"/>
          <p:cNvSpPr/>
          <p:nvPr/>
        </p:nvSpPr>
        <p:spPr>
          <a:xfrm>
            <a:off x="457200" y="123444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obile scanning app circle"/>
          <p:cNvSpPr/>
          <p:nvPr/>
        </p:nvSpPr>
        <p:spPr>
          <a:xfrm>
            <a:off x="685800" y="1645920"/>
            <a:ext cx="640080" cy="64008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5" name="Image 0" descr="Mobile scanning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22" y="182514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2344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Mobile scanning app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Quick checks for pharmacists and patients on their phones.</a:t>
            </a:r>
            <a:endParaRPr lang="en-US" sz="1800" dirty="0"/>
          </a:p>
        </p:txBody>
      </p:sp>
      <p:sp>
        <p:nvSpPr>
          <p:cNvPr id="7" name="Roadmap card 2"/>
          <p:cNvSpPr/>
          <p:nvPr/>
        </p:nvSpPr>
        <p:spPr>
          <a:xfrm>
            <a:off x="4663440" y="123444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old-chain tracking circle"/>
          <p:cNvSpPr/>
          <p:nvPr/>
        </p:nvSpPr>
        <p:spPr>
          <a:xfrm>
            <a:off x="4892040" y="1645920"/>
            <a:ext cx="640080" cy="64008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9" name="Image 1" descr="Cold-chain track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262" y="182514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760720" y="12344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Cold-chain tracking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Add storage and transport conditions to batch history.</a:t>
            </a:r>
            <a:endParaRPr lang="en-US" sz="1800" dirty="0"/>
          </a:p>
        </p:txBody>
      </p:sp>
      <p:sp>
        <p:nvSpPr>
          <p:cNvPr id="11" name="Roadmap card 3"/>
          <p:cNvSpPr/>
          <p:nvPr/>
        </p:nvSpPr>
        <p:spPr>
          <a:xfrm>
            <a:off x="457200" y="28803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Regulator dashboard circle"/>
          <p:cNvSpPr/>
          <p:nvPr/>
        </p:nvSpPr>
        <p:spPr>
          <a:xfrm>
            <a:off x="685800" y="3291840"/>
            <a:ext cx="640080" cy="64008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13" name="Image 2" descr="Regulator dashbo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" y="3471062"/>
            <a:ext cx="281635" cy="28163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54480" y="28803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Regulator dashboard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live view of flagged and expired batches for authorities.</a:t>
            </a:r>
            <a:endParaRPr lang="en-US" sz="1800" dirty="0"/>
          </a:p>
        </p:txBody>
      </p:sp>
      <p:sp>
        <p:nvSpPr>
          <p:cNvPr id="15" name="Roadmap card 4"/>
          <p:cNvSpPr/>
          <p:nvPr/>
        </p:nvSpPr>
        <p:spPr>
          <a:xfrm>
            <a:off x="4663440" y="28803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roduction network circle"/>
          <p:cNvSpPr/>
          <p:nvPr/>
        </p:nvSpPr>
        <p:spPr>
          <a:xfrm>
            <a:off x="4892040" y="3291840"/>
            <a:ext cx="640080" cy="64008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17" name="Image 3" descr="Production networ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1262" y="3471062"/>
            <a:ext cx="281635" cy="28163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760720" y="28803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Production network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Move from the Sepolia testnet to a live production network.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MED</a:t>
            </a:r>
            <a:pPr algn="ctr"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TRACE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Trust every strip.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Thank you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Live demo: med-trace-mv1w2iu8m-pradyumnavbhat-ops-projects.vercel.app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Trace Navy">
  <a:themeElements>
    <a:clrScheme name="MedTrace Navy">
      <a:dk1>
        <a:srgbClr val="0A1F44"/>
      </a:dk1>
      <a:lt1>
        <a:srgbClr val="FFFFFF"/>
      </a:lt1>
      <a:dk2>
        <a:srgbClr val="163A75"/>
      </a:dk2>
      <a:lt2>
        <a:srgbClr val="EEF3FA"/>
      </a:lt2>
      <a:accent1>
        <a:srgbClr val="2563EB"/>
      </a:accent1>
      <a:accent2>
        <a:srgbClr val="22D3EE"/>
      </a:accent2>
      <a:accent3>
        <a:srgbClr val="10B981"/>
      </a:accent3>
      <a:accent4>
        <a:srgbClr val="EF4444"/>
      </a:accent4>
      <a:accent5>
        <a:srgbClr val="5B6B85"/>
      </a:accent5>
      <a:accent6>
        <a:srgbClr val="F59E0B"/>
      </a:accent6>
      <a:hlink>
        <a:srgbClr val="2563EB"/>
      </a:hlink>
      <a:folHlink>
        <a:srgbClr val="5B6B85"/>
      </a:folHlink>
    </a:clrScheme>
    <a:fontScheme name="MedTrace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MedTrace - Blockchain Medicine Supply Chain</dc:title>
  <dc:subject>PptxGenJS Presentation</dc:subject>
  <dc:creator>PptxGenJS</dc:creator>
  <cp:lastModifiedBy>PptxGenJS</cp:lastModifiedBy>
  <cp:revision>1</cp:revision>
  <dcterms:created xsi:type="dcterms:W3CDTF">2026-10-09T02:31:21Z</dcterms:created>
  <dcterms:modified xsi:type="dcterms:W3CDTF">2026-10-09T02:31:21Z</dcterms:modified>
</cp:coreProperties>
</file>